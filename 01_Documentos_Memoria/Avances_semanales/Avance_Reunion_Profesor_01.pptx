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Ignacio Arriagada Cuadra" userId="a9850ae8-662f-4edb-84f3-e27fd14db11f" providerId="ADAL" clId="{F59FD735-7D92-4883-8546-76205F8FBA5F}"/>
    <pc:docChg chg="undo custSel modSld">
      <pc:chgData name="José Ignacio Arriagada Cuadra" userId="a9850ae8-662f-4edb-84f3-e27fd14db11f" providerId="ADAL" clId="{F59FD735-7D92-4883-8546-76205F8FBA5F}" dt="2026-08-21T17:52:01.972" v="810" actId="14100"/>
      <pc:docMkLst>
        <pc:docMk/>
      </pc:docMkLst>
      <pc:sldChg chg="addSp delSp modSp mod">
        <pc:chgData name="José Ignacio Arriagada Cuadra" userId="a9850ae8-662f-4edb-84f3-e27fd14db11f" providerId="ADAL" clId="{F59FD735-7D92-4883-8546-76205F8FBA5F}" dt="2026-08-21T17:52:01.972" v="810" actId="14100"/>
        <pc:sldMkLst>
          <pc:docMk/>
          <pc:sldMk cId="0" sldId="267"/>
        </pc:sldMkLst>
        <pc:spChg chg="add del mod">
          <ac:chgData name="José Ignacio Arriagada Cuadra" userId="a9850ae8-662f-4edb-84f3-e27fd14db11f" providerId="ADAL" clId="{F59FD735-7D92-4883-8546-76205F8FBA5F}" dt="2026-08-21T17:52:01.972" v="810" actId="14100"/>
          <ac:spMkLst>
            <pc:docMk/>
            <pc:sldMk cId="0" sldId="267"/>
            <ac:spMk id="5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08-21T17:51:41.558" v="802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08-21T17:51:43.590" v="803" actId="478"/>
          <ac:spMkLst>
            <pc:docMk/>
            <pc:sldMk cId="0" sldId="267"/>
            <ac:spMk id="8" creationId="{00000000-0000-0000-0000-000000000000}"/>
          </ac:spMkLst>
        </pc:spChg>
        <pc:spChg chg="del mod">
          <ac:chgData name="José Ignacio Arriagada Cuadra" userId="a9850ae8-662f-4edb-84f3-e27fd14db11f" providerId="ADAL" clId="{F59FD735-7D92-4883-8546-76205F8FBA5F}" dt="2026-08-21T17:51:45.633" v="804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08-21T17:51:47.682" v="805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08-21T17:51:54.384" v="808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José Ignacio Arriagada Cuadra" userId="a9850ae8-662f-4edb-84f3-e27fd14db11f" providerId="ADAL" clId="{F59FD735-7D92-4883-8546-76205F8FBA5F}" dt="2026-08-21T17:51:49.801" v="806" actId="478"/>
          <ac:spMkLst>
            <pc:docMk/>
            <pc:sldMk cId="0" sldId="26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86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7724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20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Concepción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
Departamento de Ingeniería Mecánica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103120"/>
            <a:ext cx="1054577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Ensayos para Dimensionamiento y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 Actuadores de Superficies 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Basado en Cargas CFD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reunión de avance — Memoria de Título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Arriagada Cuadra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guía: Bernardo Hernández · Frank Tinnap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agosto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dimensionar actuadores de superficies de control (misiles, vehículos guiados) requiere cargas representativas. CFD permite estimarlas, pero no existe una metodología sistemática para trasladar esas cargas a un ensayo experimental temprano sobre el actuador.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diseñar e implementar un banco de ensayos que reproduzca físicamente cargas obtenidas por CFD, para apoyar el dimensionamiento y caracterización de actuadores COTS.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académica central: recálculo del torque objetivo en tiempo real, a partir de la posición angular real de la aleta física (no de un perfil temporal fijo) — combinación de características no encontrada como conjunto en la literatura revisada.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Objetivos específicos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estado del arte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Actuadores, bancos de ensayo, metodologías CFD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37160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Text 8"/>
          <p:cNvSpPr/>
          <p:nvPr/>
        </p:nvSpPr>
        <p:spPr>
          <a:xfrm>
            <a:off x="6278728" y="14813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78728" y="181051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metodología CFD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78728" y="217627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tablas aerodinámicas utilizables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4" name="Text 12"/>
          <p:cNvSpPr/>
          <p:nvPr/>
        </p:nvSpPr>
        <p:spPr>
          <a:xfrm>
            <a:off x="822960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22783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59359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Mecánica, electrónica y de 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48" y="278892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8" name="Text 16"/>
          <p:cNvSpPr/>
          <p:nvPr/>
        </p:nvSpPr>
        <p:spPr>
          <a:xfrm>
            <a:off x="6278728" y="2898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8728" y="322783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software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8728" y="359359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e integración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822960" y="4315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64515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instrumentar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0109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de ensayos físico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5848" y="4206240"/>
            <a:ext cx="5227168" cy="123444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6" name="Text 24"/>
          <p:cNvSpPr/>
          <p:nvPr/>
        </p:nvSpPr>
        <p:spPr>
          <a:xfrm>
            <a:off x="6278728" y="4315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8728" y="4645152"/>
            <a:ext cx="486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plataforma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8728" y="50109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ensayos con actuadores reales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Revisión de literatura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referencias catalogadas (Zotero .bib), organizadas en 6 ejes temáticos: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9966960" cy="2670048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temático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Métodos CFD para cargas aerodinámicas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Ronch et al. (2011)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Bancos de ensayo / simulación de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Anastasopoulos &amp; Hornung (2018)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Actuadores para superficies de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Nalci &amp; Kayran (2014)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Interpolación / tablas aerodinámicas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Mackman et al. (2013)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Instrumentación y adquisición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ElSaid et al.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Software de control y operación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Zuluaga et al.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7091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 referencias compartidas con el eje 1 (Da Ronch et al. 2011; Laurenceau &amp; Sagaut 2008); 73 refs. totales sin duplicar.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516636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524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105457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 más cercano: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Anastasopoulos &amp; Hornung (2018) — banco tipo dinamómetro para servoactuadores de UAV. Se revisó en profundidad para extraer valores preliminares de torque, ancho de banda e incertidumbre de instrumentación (base de varios RNF).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Documentos de especificación desarrollados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del proyecto — problema, justificación, objetivos, alcance, 6 riesgos identificados con mitigación, 7 entregables.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(RF) — organizados por subsistema (CFD, PRO, BAN, INS, SWC, SIS), con prioridad y método de verificación.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(RNF) — por categoría (desempeño, precisión, seguridad, modularidad, costo, etc.), varios ya cerrados con valores concretos.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— 9 casos de uso trazados a los RF, cubriendo el ciclo completo desde importar tabla de carga hasta exportar resultados.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— diagrama de bloques y 10 interfaces (I-01 a I-10) entre subsistemas.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documentos están cruzados entre sí y versionados en un repositorio GitHub.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Arquitectura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(DS3218 int.)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2459736"/>
            <a:ext cx="320040" cy="201168"/>
          </a:xfrm>
          <a:prstGeom prst="right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8" name="Shape 6"/>
          <p:cNvSpPr/>
          <p:nvPr/>
        </p:nvSpPr>
        <p:spPr>
          <a:xfrm>
            <a:off x="2834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(celda + brazo)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2459736"/>
            <a:ext cx="320040" cy="201168"/>
          </a:xfrm>
          <a:prstGeom prst="right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2" name="Text 10"/>
          <p:cNvSpPr/>
          <p:nvPr/>
        </p:nvSpPr>
        <p:spPr>
          <a:xfrm>
            <a:off x="5120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prueba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(MG996R)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2459736"/>
            <a:ext cx="320040" cy="201168"/>
          </a:xfrm>
          <a:prstGeom prst="right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4" name="Shape 12"/>
          <p:cNvSpPr/>
          <p:nvPr/>
        </p:nvSpPr>
        <p:spPr>
          <a:xfrm>
            <a:off x="740664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19050">
            <a:solidFill>
              <a:srgbClr val="F69F17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5" name="Text 13"/>
          <p:cNvSpPr/>
          <p:nvPr/>
        </p:nvSpPr>
        <p:spPr>
          <a:xfrm>
            <a:off x="7406640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823960" cy="777240"/>
          </a:xfrm>
          <a:prstGeom prst="roundRect">
            <a:avLst>
              <a:gd name="adj" fmla="val 9412"/>
            </a:avLst>
          </a:prstGeom>
          <a:solidFill>
            <a:srgbClr val="EEF6FF"/>
          </a:solidFill>
          <a:ln w="1524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8823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Instrumentación: torque medido, posición angular real de la aleta, corriente del motor de carga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1325880" y="3337560"/>
            <a:ext cx="237744" cy="256032"/>
          </a:xfrm>
          <a:prstGeom prst="upArrow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OFFLINE (CFD → tabla de carga) y ONLINE (banco físico) desacoplados; único punto de contacto: el archivo de tabla de carga.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s-CL" sz="13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I-10: cierra el lazo posición→torque — la interpolación recalcula el torque objetivo en cada ciclo según la posición real de la aleta.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torque no-inline: celda de carga sobre brazo de palanca fijo (~4 cm), no sensor in-line en el eje.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 algn="ctr">
              <a:buAutoNum type="arabicPeriod" startAt="6"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</a:t>
            </a: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24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918242"/>
              </p:ext>
            </p:extLst>
          </p:nvPr>
        </p:nvGraphicFramePr>
        <p:xfrm>
          <a:off x="548640" y="1325880"/>
          <a:ext cx="11094415" cy="41605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Actuador bajo prueba (referencia)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MG996R (~$5.625 CLP)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DS3218 intervenido a motor DC crudo, control por corriente — arquitectura rotativa (se descartó el lineal Actuonix L16-P: 8 mm/s incompatible con seguimiento a ~10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Medición de torque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inline — celda de carga Altronics LC-10KG-HX711 sobre brazo de palanca de ~4 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Mecánica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intermedio 5 mm, acoples flexibles, rodamientos pillow block, piezas custom impresas en 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I-03 (control → motor)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→ driver BTS7960 → motor DC; lazo de corriente cerrado en software (se descartó EtherCAT/CAN por innecesario a esta escala)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Electrónica de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BTS7960 · Sensor de corriente INA219 · Microcontrolador ESP32 DevKitC-V4/Arduino uno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Avances recientes de detalle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Fijación de collares al eje intermedio: prisionero (set-screw) + plana mecanizada/impresa + inserto roscado metálico (heat-set) en cada collar PLA.</a:t>
            </a:r>
            <a:endParaRPr lang="en-US" sz="1700" dirty="0"/>
          </a:p>
          <a:p>
            <a:pPr marL="685800" lvl="1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 del brazo de torque (crítico, transmite carga): dos prisioneros a ~90–120°. Collar de la aleta: uno solo (no transmite torque).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mecánica del brazo de torque (primer paso analítico): 4,37 MPa a torque pico (2 N·m); 2,19 MPa a torque continuo máximo (1 N·m) — margen conservador dado que no hay datos de fatiga confiables para PLA-FDM.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del DS3218 documentado: dos variantes disponibles — estándar (1,86–2,11 N·m) vs. PRO Red (2,06–2,30 N·m, mayor corriente de stall).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carga, driver, sensor de corriente y microcontrolador ya preseleccionados y cotizados en Altronics.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Consultas para el profesor guía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44752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variante del DS3218 debo comprar: estándar o PRO Red?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 Red da más torque (2,06–2,30 N·m) pero su corriente de stall (~2,9 A) se acerca al límite del INA219 (3,2 A). La estándar deja más margen de sensor pero menos margen mecánico.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1" name="Shape 9"/>
          <p:cNvSpPr/>
          <p:nvPr/>
        </p:nvSpPr>
        <p:spPr>
          <a:xfrm>
            <a:off x="731520" y="2715768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2" name="Text 10"/>
          <p:cNvSpPr/>
          <p:nvPr/>
        </p:nvSpPr>
        <p:spPr>
          <a:xfrm>
            <a:off x="73152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65176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¿Confirma la estrategia de intervención del servo (opción a) sobre la alternativa de respaldo (opción b)?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3081528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(a): motor DC crudo controlado por corriente — es la que sustenta todo el diseño actual. Opción (b): servo intacto con comando de posición límite, más simple pero no mide torque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6" name="Shape 14"/>
          <p:cNvSpPr/>
          <p:nvPr/>
        </p:nvSpPr>
        <p:spPr>
          <a:xfrm>
            <a:off x="731520" y="3922776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7" name="Text 15"/>
          <p:cNvSpPr/>
          <p:nvPr/>
        </p:nvSpPr>
        <p:spPr>
          <a:xfrm>
            <a:off x="731520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858768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 un análisis FEA del brazo de torque, o el cálculo analítico (4,37 MPa @ pico) es suficiente para avanzar a impresión?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288536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 directamente el cronograma: un FEA agrega días antes de poder imprimir y ensamblar.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92624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21" name="Shape 19"/>
          <p:cNvSpPr/>
          <p:nvPr/>
        </p:nvSpPr>
        <p:spPr>
          <a:xfrm>
            <a:off x="731520" y="5129784"/>
            <a:ext cx="365760" cy="365760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73152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065776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el margen de </a:t>
            </a:r>
            <a:r>
              <a:rPr lang="es-CL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¿autoriza iniciar la compra de componentes ya, o prefiere esperar a resolver la consulta 1?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34440" y="5495544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compra + espera de componentes (~21 días) es la variable más sensible del cronograma completo.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Cronograma y riesgo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7" name="Text 5"/>
          <p:cNvSpPr/>
          <p:nvPr/>
        </p:nvSpPr>
        <p:spPr>
          <a:xfrm>
            <a:off x="2286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21-ago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358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25146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790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1" name="Text 9"/>
          <p:cNvSpPr/>
          <p:nvPr/>
        </p:nvSpPr>
        <p:spPr>
          <a:xfrm>
            <a:off x="52578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II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28-oct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0508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3" name="Text 11"/>
          <p:cNvSpPr/>
          <p:nvPr/>
        </p:nvSpPr>
        <p:spPr>
          <a:xfrm>
            <a:off x="81838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808208" y="1892808"/>
            <a:ext cx="146304" cy="146304"/>
          </a:xfrm>
          <a:prstGeom prst="ellipse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5" name="Text 13"/>
          <p:cNvSpPr/>
          <p:nvPr/>
        </p:nvSpPr>
        <p:spPr>
          <a:xfrm>
            <a:off x="102870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Present. 5min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1091153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antes del Informe 3: la ruta crítica llega a redacción final hacia el 24-nov, dejando solo ~10 días de colchón antes del 04-dic.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más sensible: compra + espera de componentes (~7 días de compra + ~14 días de lead time = ~21 días combinados).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actuador de carga (arquitectura) ya cerrada — desbloquea en paralelo CAD, compra de componentes y definición de casos CFD.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Próximos pasos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44168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variante del DS3218 a comprar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00784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1 — condiciona el margen del INA219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3113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0" name="Text 8"/>
          <p:cNvSpPr/>
          <p:nvPr/>
        </p:nvSpPr>
        <p:spPr>
          <a:xfrm>
            <a:off x="64008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85416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estrategia de intervención del servo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42032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26664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se justifica FEA del brazo de torque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3 — antes de imprimir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8" name="Text 16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86791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compra de componentes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224528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4 — variable crítica del cronograma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casos de simulación CFD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065776"/>
            <a:ext cx="999713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paralelo, ya desbloqueado por la arquitectura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acuerdos de la reunión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5779" y="1074420"/>
            <a:ext cx="10911535" cy="5097780"/>
          </a:xfrm>
          <a:prstGeom prst="roundRect">
            <a:avLst>
              <a:gd name="adj" fmla="val 1633"/>
            </a:avLst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Hasta el 11/09 debe estar listo el planteamiento del problema, objetivos redactados, contexto, motivación, etc. En el avance entregable.</a:t>
            </a:r>
          </a:p>
          <a:p>
            <a:r>
              <a:rPr lang="es-CL" dirty="0"/>
              <a:t>Especificar el objeto de estudio. El perfil específico a utilizar, las condiciones de flujo, etc.</a:t>
            </a:r>
          </a:p>
          <a:p>
            <a:r>
              <a:rPr lang="es-CL" dirty="0"/>
              <a:t>Empezar con flujo potencial. Para tener cargas de referencia como base</a:t>
            </a:r>
          </a:p>
          <a:p>
            <a:r>
              <a:rPr lang="es-CL" dirty="0"/>
              <a:t>Extender los OE. Desarrollarlos más.</a:t>
            </a:r>
          </a:p>
          <a:p>
            <a:r>
              <a:rPr lang="es-CL" dirty="0"/>
              <a:t>Diagramas simplificados de propuesta de banco. 2 Monos para explicar las opciones de como imponer o medir carga.</a:t>
            </a:r>
          </a:p>
          <a:p>
            <a:r>
              <a:rPr lang="es-CL" dirty="0"/>
              <a:t>Para obtener la superficie de respuesta aerodinámica considerar la velocidad de flujo, ángulo de deflexión de la superficie y velocidad angular. (Agregar la dimensión de velocidad angular a lo ya considerado por las implicancias dinámicas) </a:t>
            </a:r>
          </a:p>
          <a:p>
            <a:r>
              <a:rPr lang="es-CL" dirty="0"/>
              <a:t>Proponen que en el banco ya construido, la selección del caso de prueba (velocidad de flujo, ángulo y velocidad angular) sea con potenciómetros en lugar de software.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anotar decisiones y observaciones de los profesores guía: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1570</Words>
  <Application>Microsoft Office PowerPoint</Application>
  <PresentationFormat>Panorámica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Ignacio Arriagada Cuadra</cp:lastModifiedBy>
  <cp:revision>10</cp:revision>
  <dcterms:created xsi:type="dcterms:W3CDTF">2026-08-20T22:38:16Z</dcterms:created>
  <dcterms:modified xsi:type="dcterms:W3CDTF">2026-08-21T17:52:04Z</dcterms:modified>
</cp:coreProperties>
</file>