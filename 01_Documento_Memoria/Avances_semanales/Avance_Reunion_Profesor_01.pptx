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0" d="100"/>
          <a:sy n="70" d="100"/>
        </p:scale>
        <p:origin x="714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1861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CL" dirty="0"/>
          </a:p>
        </p:txBody>
      </p:sp>
      <p:pic>
        <p:nvPicPr>
          <p:cNvPr id="3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6032"/>
            <a:ext cx="777240" cy="960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3200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Concepción
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
Departamento de Ingeniería Mecánica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22960" y="2103120"/>
            <a:ext cx="10545775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Ensayos para Dimensionamiento y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Caracterización de Actuadores de Superficies de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Basado en Cargas CFD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22960" y="3794760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69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reunión de avance — Memoria de Título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4663440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José Arriagada Cuadra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Profesores guía: Bernardo Hernández · Frank Tinnap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03504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de agosto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"/>
            <a:ext cx="12191695" cy="914400"/>
          </a:xfrm>
          <a:prstGeom prst="rect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3" name="Text 1"/>
          <p:cNvSpPr/>
          <p:nvPr/>
        </p:nvSpPr>
        <p:spPr>
          <a:xfrm>
            <a:off x="365760" y="9144"/>
            <a:ext cx="114601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Contexto y objetivo del proyecto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551615" y="63825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0911535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dimensionar actuadores de superficies de control (misiles, vehículos guiados) requiere cargas representativas. CFD permite estimarlas, pero no existe una metodología sistemática para trasladar esas cargas a un ensayo experimental temprano sobre el actuador.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general: diseñar e implementar un banco de ensayos que reproduzca físicamente cargas obtenidas por CFD, para apoyar el dimensionamiento y caracterización de actuadores COTS.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Contribución académica central: recálculo del torque objetivo en tiempo real, a partir de la posición angular real de la aleta física (no de un perfil temporal fijo) — combinación de características no encontrada como conjunto en la literatura revisada.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"/>
            <a:ext cx="12191695" cy="914400"/>
          </a:xfrm>
          <a:prstGeom prst="rect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3" name="Text 1"/>
          <p:cNvSpPr/>
          <p:nvPr/>
        </p:nvSpPr>
        <p:spPr>
          <a:xfrm>
            <a:off x="365760" y="9144"/>
            <a:ext cx="114601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Objetivos específicos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551615" y="63825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227168" cy="1234440"/>
          </a:xfrm>
          <a:prstGeom prst="roundRect">
            <a:avLst>
              <a:gd name="adj" fmla="val 4444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6" name="Text 4"/>
          <p:cNvSpPr/>
          <p:nvPr/>
        </p:nvSpPr>
        <p:spPr>
          <a:xfrm>
            <a:off x="822960" y="14813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9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OE-1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810512"/>
            <a:ext cx="486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el estado del arte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176272"/>
            <a:ext cx="486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Actuadores, bancos de ensayo, metodologías CFD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5848" y="1371600"/>
            <a:ext cx="5227168" cy="1234440"/>
          </a:xfrm>
          <a:prstGeom prst="roundRect">
            <a:avLst>
              <a:gd name="adj" fmla="val 4444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10" name="Text 8"/>
          <p:cNvSpPr/>
          <p:nvPr/>
        </p:nvSpPr>
        <p:spPr>
          <a:xfrm>
            <a:off x="6278728" y="14813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9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OE-2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78728" y="1810512"/>
            <a:ext cx="486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la metodología CFD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78728" y="2176272"/>
            <a:ext cx="486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tablas aerodinámicas utilizables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788920"/>
            <a:ext cx="5227168" cy="1234440"/>
          </a:xfrm>
          <a:prstGeom prst="roundRect">
            <a:avLst>
              <a:gd name="adj" fmla="val 4444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14" name="Text 12"/>
          <p:cNvSpPr/>
          <p:nvPr/>
        </p:nvSpPr>
        <p:spPr>
          <a:xfrm>
            <a:off x="822960" y="2898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9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OE-3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227832"/>
            <a:ext cx="486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la arquitectura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3593592"/>
            <a:ext cx="486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Mecánica, electrónica y de control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95848" y="2788920"/>
            <a:ext cx="5227168" cy="1234440"/>
          </a:xfrm>
          <a:prstGeom prst="roundRect">
            <a:avLst>
              <a:gd name="adj" fmla="val 4444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18" name="Text 16"/>
          <p:cNvSpPr/>
          <p:nvPr/>
        </p:nvSpPr>
        <p:spPr>
          <a:xfrm>
            <a:off x="6278728" y="2898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9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OE-4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78728" y="3227832"/>
            <a:ext cx="486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el software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78728" y="3593592"/>
            <a:ext cx="486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e integración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206240"/>
            <a:ext cx="5227168" cy="1234440"/>
          </a:xfrm>
          <a:prstGeom prst="roundRect">
            <a:avLst>
              <a:gd name="adj" fmla="val 4444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22" name="Text 20"/>
          <p:cNvSpPr/>
          <p:nvPr/>
        </p:nvSpPr>
        <p:spPr>
          <a:xfrm>
            <a:off x="822960" y="43159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9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OE-5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4645152"/>
            <a:ext cx="486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 instrumentar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5010912"/>
            <a:ext cx="486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banco de ensayos físico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95848" y="4206240"/>
            <a:ext cx="5227168" cy="1234440"/>
          </a:xfrm>
          <a:prstGeom prst="roundRect">
            <a:avLst>
              <a:gd name="adj" fmla="val 4444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26" name="Text 24"/>
          <p:cNvSpPr/>
          <p:nvPr/>
        </p:nvSpPr>
        <p:spPr>
          <a:xfrm>
            <a:off x="6278728" y="43159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9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OE-6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78728" y="4645152"/>
            <a:ext cx="486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la plataforma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78728" y="5010912"/>
            <a:ext cx="486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Mediante ensayos con actuadores reales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"/>
            <a:ext cx="12191695" cy="914400"/>
          </a:xfrm>
          <a:prstGeom prst="rect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3" name="Text 1"/>
          <p:cNvSpPr/>
          <p:nvPr/>
        </p:nvSpPr>
        <p:spPr>
          <a:xfrm>
            <a:off x="365760" y="9144"/>
            <a:ext cx="114601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Revisión de literatura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551615" y="63825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referencias catalogadas (Zotero .bib), organizadas en 6 ejes temáticos: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9966960" cy="2670048"/>
        </p:xfrm>
        <a:graphic>
          <a:graphicData uri="http://schemas.openxmlformats.org/drawingml/2006/table">
            <a:tbl>
              <a:tblPr/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 temático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Referencia clave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Métodos CFD para cargas aerodinámicas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Ronch et al. (2011)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Bancos de ensayo / simulación de carga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Anastasopoulos &amp; Hornung (2018)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Actuadores para superficies de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Nalci &amp; Kayran (2014)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Interpolación / tablas aerodinámicas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Mackman et al. (2013)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Instrumentación y adquisición de datos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ElSaid et al. (2019)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Software de control y operación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Zuluaga et al. (2022)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70916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2 referencias compartidas con el eje 1 (Da Ronch et al. 2011; Laurenceau &amp; Sagaut 2008); 73 refs. totales sin duplicar.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5166360"/>
            <a:ext cx="10911535" cy="1051560"/>
          </a:xfrm>
          <a:prstGeom prst="roundRect">
            <a:avLst>
              <a:gd name="adj" fmla="val 6957"/>
            </a:avLst>
          </a:prstGeom>
          <a:solidFill>
            <a:srgbClr val="FFF3E0"/>
          </a:solidFill>
          <a:ln w="15240">
            <a:solidFill>
              <a:srgbClr val="F69F17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9" name="Text 6"/>
          <p:cNvSpPr/>
          <p:nvPr/>
        </p:nvSpPr>
        <p:spPr>
          <a:xfrm>
            <a:off x="822960" y="5166360"/>
            <a:ext cx="1054577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Antecedente más cercano: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Anastasopoulos &amp; Hornung (2018) — banco tipo dinamómetro para servoactuadores de UAV. Se revisó en profundidad para extraer valores preliminares de torque, ancho de banda e incertidumbre de instrumentación (base de varios RNF).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"/>
            <a:ext cx="12191695" cy="914400"/>
          </a:xfrm>
          <a:prstGeom prst="rect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3" name="Text 1"/>
          <p:cNvSpPr/>
          <p:nvPr/>
        </p:nvSpPr>
        <p:spPr>
          <a:xfrm>
            <a:off x="365760" y="9144"/>
            <a:ext cx="114601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Documentos de especificación desarrollados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551615" y="63825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0911535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 del proyecto — problema, justificación, objetivos, alcance, 6 riesgos identificados con mitigación, 7 entregables.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funcionales (RF) — organizados por subsistema (CFD, PRO, BAN, INS, SWC, SIS), con prioridad y método de verificación.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no funcionales (RNF) — por categoría (desempeño, precisión, seguridad, modularidad, costo, etc.), varios ya cerrados con valores concretos.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— 9 casos de uso trazados a los RF, cubriendo el ciclo completo desde importar tabla de carga hasta exportar resultados.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 — diagrama de bloques y 10 interfaces (I-01 a I-10) entre subsistemas.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cinco documentos están cruzados entre sí y versionados en un repositorio GitHub.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"/>
            <a:ext cx="12191695" cy="914400"/>
          </a:xfrm>
          <a:prstGeom prst="rect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3" name="Text 1"/>
          <p:cNvSpPr/>
          <p:nvPr/>
        </p:nvSpPr>
        <p:spPr>
          <a:xfrm>
            <a:off x="365760" y="9144"/>
            <a:ext cx="114601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Arquitectura del sistema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551615" y="63825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F69F17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(DS3218 int.)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14600" y="2459736"/>
            <a:ext cx="320040" cy="201168"/>
          </a:xfrm>
          <a:prstGeom prst="rightArrow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8" name="Shape 6"/>
          <p:cNvSpPr/>
          <p:nvPr/>
        </p:nvSpPr>
        <p:spPr>
          <a:xfrm>
            <a:off x="2834640" y="210312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F69F17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9" name="Text 7"/>
          <p:cNvSpPr/>
          <p:nvPr/>
        </p:nvSpPr>
        <p:spPr>
          <a:xfrm>
            <a:off x="2834640" y="210312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(celda + brazo)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0600" y="2459736"/>
            <a:ext cx="320040" cy="201168"/>
          </a:xfrm>
          <a:prstGeom prst="rightArrow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11" name="Shape 9"/>
          <p:cNvSpPr/>
          <p:nvPr/>
        </p:nvSpPr>
        <p:spPr>
          <a:xfrm>
            <a:off x="5120640" y="210312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F69F17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12" name="Text 10"/>
          <p:cNvSpPr/>
          <p:nvPr/>
        </p:nvSpPr>
        <p:spPr>
          <a:xfrm>
            <a:off x="5120640" y="210312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Actuador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prueba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(MG996R)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86600" y="2459736"/>
            <a:ext cx="320040" cy="201168"/>
          </a:xfrm>
          <a:prstGeom prst="rightArrow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14" name="Shape 12"/>
          <p:cNvSpPr/>
          <p:nvPr/>
        </p:nvSpPr>
        <p:spPr>
          <a:xfrm>
            <a:off x="7406640" y="210312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 w="19050">
            <a:solidFill>
              <a:srgbClr val="F69F17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15" name="Text 13"/>
          <p:cNvSpPr/>
          <p:nvPr/>
        </p:nvSpPr>
        <p:spPr>
          <a:xfrm>
            <a:off x="7406640" y="210312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8823960" cy="777240"/>
          </a:xfrm>
          <a:prstGeom prst="roundRect">
            <a:avLst>
              <a:gd name="adj" fmla="val 9412"/>
            </a:avLst>
          </a:prstGeom>
          <a:solidFill>
            <a:srgbClr val="EEF6FF"/>
          </a:solidFill>
          <a:ln w="1524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17" name="Text 15"/>
          <p:cNvSpPr/>
          <p:nvPr/>
        </p:nvSpPr>
        <p:spPr>
          <a:xfrm>
            <a:off x="548640" y="3566160"/>
            <a:ext cx="8823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Instrumentación: torque medido, posición angular real de la aleta, corriente del motor de carga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 flipV="1">
            <a:off x="1325880" y="3337560"/>
            <a:ext cx="237744" cy="256032"/>
          </a:xfrm>
          <a:prstGeom prst="upArrow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19" name="Text 17"/>
          <p:cNvSpPr/>
          <p:nvPr/>
        </p:nvSpPr>
        <p:spPr>
          <a:xfrm>
            <a:off x="640080" y="4526280"/>
            <a:ext cx="10911535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OFFLINE (CFD → tabla de carga) y ONLINE (banco físico) desacoplados; único punto de contacto: el archivo de tabla de carga.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s-CL" sz="13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I-10: cierra el lazo posición→torque — la interpolación recalcula el torque objetivo en cada ciclo según la posición real de la aleta.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Medición de torque no-inline: celda de carga sobre brazo de palanca fijo (~4 cm), no sensor in-line en el eje.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"/>
            <a:ext cx="12191695" cy="914400"/>
          </a:xfrm>
          <a:prstGeom prst="rect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3" name="Text 1"/>
          <p:cNvSpPr/>
          <p:nvPr/>
        </p:nvSpPr>
        <p:spPr>
          <a:xfrm>
            <a:off x="365760" y="9144"/>
            <a:ext cx="114601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200" indent="-457200" algn="ctr">
              <a:buAutoNum type="arabicPeriod" startAt="6"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 </a:t>
            </a:r>
            <a:r>
              <a:rPr lang="es-CL" sz="24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2400" b="1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551615" y="63825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918242"/>
              </p:ext>
            </p:extLst>
          </p:nvPr>
        </p:nvGraphicFramePr>
        <p:xfrm>
          <a:off x="548640" y="1325880"/>
          <a:ext cx="11094415" cy="416052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Actuador bajo prueba (referencia)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Servo MG996R (~$5.625 CLP)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de carga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DS3218 intervenido a motor DC crudo, control por corriente — arquitectura rotativa (se descartó el lineal Actuonix L16-P: 8 mm/s incompatible con seguimiento a ~10 Hz)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Medición de torque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inline — celda de carga Altronics LC-10KG-HX711 sobre brazo de palanca de ~4 cm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Mecánica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 intermedio 5 mm, acoples flexibles, rodamientos pillow block, piezas custom impresas en 3D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Interfaz I-03 (control → motor)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PWM → driver BTS7960 → motor DC; lazo de corriente cerrado en software (se descartó EtherCAT/CAN por innecesario a esta escala)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Electrónica de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 BTS7960 · Sensor de corriente INA219 · Microcontrolador ESP32 DevKitC-V4/Arduino uno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"/>
            <a:ext cx="12191695" cy="914400"/>
          </a:xfrm>
          <a:prstGeom prst="rect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3" name="Text 1"/>
          <p:cNvSpPr/>
          <p:nvPr/>
        </p:nvSpPr>
        <p:spPr>
          <a:xfrm>
            <a:off x="365760" y="9144"/>
            <a:ext cx="114601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Avances recientes de detalle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551615" y="63825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0911535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Fijación de collares al eje intermedio: prisionero (set-screw) + plana mecanizada/impresa + inserto roscado metálico (heat-set) en cada collar PLA.</a:t>
            </a:r>
            <a:endParaRPr lang="en-US" sz="1700" dirty="0"/>
          </a:p>
          <a:p>
            <a:pPr marL="685800" lvl="1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Collar del brazo de torque (crítico, transmite carga): dos prisioneros a ~90–120°. Collar de la aleta: uno solo (no transmite torque).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mecánica del brazo de torque (primer paso analítico): 4,37 MPa a torque pico (2 N·m); 2,19 MPa a torque continuo máximo (1 N·m) — margen conservador dado que no hay datos de fatiga confiables para PLA-FDM.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Datasheet del DS3218 documentado: dos variantes disponibles — estándar (1,86–2,11 N·m) vs. PRO Red (2,06–2,30 N·m, mayor corriente de stall).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Celda de carga, driver, sensor de corriente y microcontrolador ya preseleccionados y cotizados en Altronics.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"/>
            <a:ext cx="12191695" cy="914400"/>
          </a:xfrm>
          <a:prstGeom prst="rect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3" name="Text 1"/>
          <p:cNvSpPr/>
          <p:nvPr/>
        </p:nvSpPr>
        <p:spPr>
          <a:xfrm>
            <a:off x="365760" y="9144"/>
            <a:ext cx="114601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Consultas para el profesor guía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551615" y="63825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4415" cy="10972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365760" cy="365760"/>
          </a:xfrm>
          <a:prstGeom prst="ellipse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444752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variante del DS3218 debo comprar: estándar o PRO Red?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34440" y="1874520"/>
            <a:ext cx="1027145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 Red da más torque (2,06–2,30 N·m) pero su corriente de stall (~2,9 A) se acerca al límite del INA219 (3,2 A). La estándar deja más margen de sensor pero menos margen mecánico.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578608"/>
            <a:ext cx="11094415" cy="10972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11" name="Shape 9"/>
          <p:cNvSpPr/>
          <p:nvPr/>
        </p:nvSpPr>
        <p:spPr>
          <a:xfrm>
            <a:off x="731520" y="2715768"/>
            <a:ext cx="365760" cy="365760"/>
          </a:xfrm>
          <a:prstGeom prst="ellipse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12" name="Text 10"/>
          <p:cNvSpPr/>
          <p:nvPr/>
        </p:nvSpPr>
        <p:spPr>
          <a:xfrm>
            <a:off x="731520" y="2715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651760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¿Confirma la estrategia de intervención del servo (opción a) sobre la alternativa de respaldo (opción b)?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34440" y="3081528"/>
            <a:ext cx="1027145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(a): motor DC crudo controlado por corriente — es la que sustenta todo el diseño actual. Opción (b): servo intacto con comando de posición límite, más simple pero no mide torque real.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785616"/>
            <a:ext cx="11094415" cy="10972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16" name="Shape 14"/>
          <p:cNvSpPr/>
          <p:nvPr/>
        </p:nvSpPr>
        <p:spPr>
          <a:xfrm>
            <a:off x="731520" y="3922776"/>
            <a:ext cx="365760" cy="365760"/>
          </a:xfrm>
          <a:prstGeom prst="ellipse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17" name="Text 15"/>
          <p:cNvSpPr/>
          <p:nvPr/>
        </p:nvSpPr>
        <p:spPr>
          <a:xfrm>
            <a:off x="731520" y="39227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3858768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¿Vale la pena un análisis FEA del brazo de torque, o el cálculo analítico (4,37 MPa @ pico) es suficiente para avanzar a impresión?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34440" y="4288536"/>
            <a:ext cx="1027145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Impacta directamente el cronograma: un FEA agrega días antes de poder imprimir y ensamblar.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992624"/>
            <a:ext cx="11094415" cy="10972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21" name="Shape 19"/>
          <p:cNvSpPr/>
          <p:nvPr/>
        </p:nvSpPr>
        <p:spPr>
          <a:xfrm>
            <a:off x="731520" y="5129784"/>
            <a:ext cx="365760" cy="365760"/>
          </a:xfrm>
          <a:prstGeom prst="ellipse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22" name="Text 20"/>
          <p:cNvSpPr/>
          <p:nvPr/>
        </p:nvSpPr>
        <p:spPr>
          <a:xfrm>
            <a:off x="731520" y="51297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4440" y="5065776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el margen de </a:t>
            </a:r>
            <a:r>
              <a:rPr lang="es-CL" sz="135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¿autoriza iniciar la compra de componentes ya, o prefiere esperar a resolver la consulta 1?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234440" y="5495544"/>
            <a:ext cx="1027145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compra + espera de componentes (~21 días) es la variable más sensible del cronograma completo.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"/>
            <a:ext cx="12191695" cy="914400"/>
          </a:xfrm>
          <a:prstGeom prst="rect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3" name="Text 1"/>
          <p:cNvSpPr/>
          <p:nvPr/>
        </p:nvSpPr>
        <p:spPr>
          <a:xfrm>
            <a:off x="365760" y="9144"/>
            <a:ext cx="114601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Cronograma y riesgo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551615" y="63825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81360" cy="0"/>
          </a:xfrm>
          <a:prstGeom prst="line">
            <a:avLst/>
          </a:prstGeom>
          <a:noFill/>
          <a:ln w="254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6" name="Shape 4"/>
          <p:cNvSpPr/>
          <p:nvPr/>
        </p:nvSpPr>
        <p:spPr>
          <a:xfrm>
            <a:off x="749808" y="1892808"/>
            <a:ext cx="146304" cy="146304"/>
          </a:xfrm>
          <a:prstGeom prst="ellipse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7" name="Text 5"/>
          <p:cNvSpPr/>
          <p:nvPr/>
        </p:nvSpPr>
        <p:spPr>
          <a:xfrm>
            <a:off x="228600" y="21031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21-ago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35808" y="1892808"/>
            <a:ext cx="146304" cy="146304"/>
          </a:xfrm>
          <a:prstGeom prst="ellipse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9" name="Text 7"/>
          <p:cNvSpPr/>
          <p:nvPr/>
        </p:nvSpPr>
        <p:spPr>
          <a:xfrm>
            <a:off x="2514600" y="21031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11-sep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79008" y="1892808"/>
            <a:ext cx="146304" cy="146304"/>
          </a:xfrm>
          <a:prstGeom prst="ellipse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11" name="Text 9"/>
          <p:cNvSpPr/>
          <p:nvPr/>
        </p:nvSpPr>
        <p:spPr>
          <a:xfrm>
            <a:off x="5257800" y="21031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II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28-oct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705088" y="1892808"/>
            <a:ext cx="146304" cy="146304"/>
          </a:xfrm>
          <a:prstGeom prst="ellipse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13" name="Text 11"/>
          <p:cNvSpPr/>
          <p:nvPr/>
        </p:nvSpPr>
        <p:spPr>
          <a:xfrm>
            <a:off x="8183880" y="21031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04-dic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808208" y="1892808"/>
            <a:ext cx="146304" cy="146304"/>
          </a:xfrm>
          <a:prstGeom prst="ellipse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15" name="Text 13"/>
          <p:cNvSpPr/>
          <p:nvPr/>
        </p:nvSpPr>
        <p:spPr>
          <a:xfrm>
            <a:off x="10287000" y="21031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Present. 5min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15-dic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697480"/>
            <a:ext cx="10911535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antes del Informe 3: la ruta crítica llega a redacción final hacia el 24-nov, dejando solo ~10 días de colchón antes del 04-dic.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más sensible: compra + espera de componentes (~7 días de compra + ~14 días de lead time = ~21 días combinados).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actuador de carga (arquitectura) ya cerrada — desbloquea en paralelo CAD, compra de componentes y definición de casos CFD.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"/>
            <a:ext cx="12191695" cy="914400"/>
          </a:xfrm>
          <a:prstGeom prst="rect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3" name="Text 1"/>
          <p:cNvSpPr/>
          <p:nvPr/>
        </p:nvSpPr>
        <p:spPr>
          <a:xfrm>
            <a:off x="365760" y="9144"/>
            <a:ext cx="114601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Próximos pasos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551615" y="63825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89888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6" name="Text 4"/>
          <p:cNvSpPr/>
          <p:nvPr/>
        </p:nvSpPr>
        <p:spPr>
          <a:xfrm>
            <a:off x="640080" y="1389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344168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variante del DS3218 a comprar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700784"/>
            <a:ext cx="999713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1 — condiciona el margen del INA219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231136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10" name="Text 8"/>
          <p:cNvSpPr/>
          <p:nvPr/>
        </p:nvSpPr>
        <p:spPr>
          <a:xfrm>
            <a:off x="640080" y="2231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185416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estrategia de intervención del servo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542032"/>
            <a:ext cx="999713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072384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14" name="Text 12"/>
          <p:cNvSpPr/>
          <p:nvPr/>
        </p:nvSpPr>
        <p:spPr>
          <a:xfrm>
            <a:off x="640080" y="3072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3026664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si se justifica FEA del brazo de torque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3383280"/>
            <a:ext cx="999713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3 — antes de imprimir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913632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18" name="Text 16"/>
          <p:cNvSpPr/>
          <p:nvPr/>
        </p:nvSpPr>
        <p:spPr>
          <a:xfrm>
            <a:off x="640080" y="3913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3867912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compra de componentes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4224528"/>
            <a:ext cx="999713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4 — variable crítica del cronograma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75488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22" name="Text 20"/>
          <p:cNvSpPr/>
          <p:nvPr/>
        </p:nvSpPr>
        <p:spPr>
          <a:xfrm>
            <a:off x="64008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80160" y="4709160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casos de simulación CFD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80160" y="5065776"/>
            <a:ext cx="999713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paralelo, ya desbloqueado por la arquitectura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"/>
            <a:ext cx="12191695" cy="914400"/>
          </a:xfrm>
          <a:prstGeom prst="rect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3" name="Text 1"/>
          <p:cNvSpPr/>
          <p:nvPr/>
        </p:nvSpPr>
        <p:spPr>
          <a:xfrm>
            <a:off x="365760" y="9144"/>
            <a:ext cx="114601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acuerdos de la reunión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551615" y="63825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0911535" cy="4480560"/>
          </a:xfrm>
          <a:prstGeom prst="roundRect">
            <a:avLst>
              <a:gd name="adj" fmla="val 1633"/>
            </a:avLst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r>
              <a:rPr lang="es-CL" dirty="0"/>
              <a:t>Hasta el 11/09 debe estar listo el planteamiento del problema, objetivos redactados, contexto, motivación, etc. En el avance entregable.</a:t>
            </a:r>
          </a:p>
          <a:p>
            <a:endParaRPr lang="es-CL" dirty="0"/>
          </a:p>
          <a:p>
            <a:r>
              <a:rPr lang="es-CL" dirty="0"/>
              <a:t>Especificar el objeto de estudio.</a:t>
            </a:r>
          </a:p>
          <a:p>
            <a:r>
              <a:rPr lang="es-CL" dirty="0"/>
              <a:t>Empezar con flujo potencial.</a:t>
            </a:r>
          </a:p>
          <a:p>
            <a:r>
              <a:rPr lang="es-CL" dirty="0"/>
              <a:t>Extender los OE.</a:t>
            </a:r>
          </a:p>
          <a:p>
            <a:r>
              <a:rPr lang="es-CL" dirty="0"/>
              <a:t>Diagramas simplificados de propuesta de banco.</a:t>
            </a:r>
          </a:p>
          <a:p>
            <a:endParaRPr lang="es-CL" dirty="0"/>
          </a:p>
          <a:p>
            <a:endParaRPr lang="es-CL" dirty="0"/>
          </a:p>
          <a:p>
            <a:endParaRPr lang="es-CL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para anotar decisiones y observaciones de los profesores guía: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10362895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8" name="Shape 6"/>
          <p:cNvSpPr/>
          <p:nvPr/>
        </p:nvSpPr>
        <p:spPr>
          <a:xfrm>
            <a:off x="914400" y="2971800"/>
            <a:ext cx="10362895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9" name="Shape 7"/>
          <p:cNvSpPr/>
          <p:nvPr/>
        </p:nvSpPr>
        <p:spPr>
          <a:xfrm>
            <a:off x="914400" y="3657600"/>
            <a:ext cx="10362895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10362895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11" name="Shape 9"/>
          <p:cNvSpPr/>
          <p:nvPr/>
        </p:nvSpPr>
        <p:spPr>
          <a:xfrm>
            <a:off x="914400" y="5029200"/>
            <a:ext cx="10362895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12" name="Shape 10"/>
          <p:cNvSpPr/>
          <p:nvPr/>
        </p:nvSpPr>
        <p:spPr>
          <a:xfrm>
            <a:off x="914400" y="5715000"/>
            <a:ext cx="10362895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1463</Words>
  <Application>Microsoft Office PowerPoint</Application>
  <PresentationFormat>Panorámica</PresentationFormat>
  <Paragraphs>179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José Ignacio Arriagada Cuadra</cp:lastModifiedBy>
  <cp:revision>10</cp:revision>
  <dcterms:created xsi:type="dcterms:W3CDTF">2026-08-20T22:38:16Z</dcterms:created>
  <dcterms:modified xsi:type="dcterms:W3CDTF">2026-08-21T17:18:37Z</dcterms:modified>
</cp:coreProperties>
</file>